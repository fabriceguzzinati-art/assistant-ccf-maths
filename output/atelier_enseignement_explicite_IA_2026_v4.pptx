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02920" y="502920"/>
            <a:ext cx="111556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60120" y="1051560"/>
            <a:ext cx="10287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100" b="1">
                <a:solidFill>
                  <a:srgbClr val="004A7C"/>
                </a:solidFill>
                <a:latin typeface="Open Sans"/>
              </a:rPr>
              <a:t>L’enseignement explicite augmenté par l’IA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148840"/>
            <a:ext cx="9692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0">
                <a:solidFill>
                  <a:srgbClr val="F36C21"/>
                </a:solidFill>
                <a:latin typeface="Open Sans"/>
              </a:rPr>
              <a:t>Comment gagner du temps tout en renforçant la différenciation pédagogique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3154680"/>
            <a:ext cx="9966960" cy="685800"/>
          </a:xfrm>
          <a:prstGeom prst="roundRect">
            <a:avLst/>
          </a:prstGeom>
          <a:solidFill>
            <a:srgbClr val="E8F1F8"/>
          </a:solidFill>
          <a:ln>
            <a:solidFill>
              <a:srgbClr val="E8F1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325880" y="3364992"/>
            <a:ext cx="95097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004A7C"/>
                </a:solidFill>
                <a:latin typeface="Open Sans"/>
              </a:rPr>
              <a:t>Atelier pour enseignants de lycée professionnel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382512"/>
            <a:ext cx="11155680" cy="27432"/>
          </a:xfrm>
          <a:prstGeom prst="rect">
            <a:avLst/>
          </a:prstGeom>
          <a:solidFill>
            <a:srgbClr val="F36C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2743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004A7C"/>
                </a:solidFill>
                <a:latin typeface="Open Sans"/>
              </a:defRPr>
            </a:pPr>
            <a:r>
              <a:t>atelier IA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200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4A7C"/>
                </a:solidFill>
                <a:latin typeface="Montserrat"/>
              </a:rPr>
              <a:t>Question d’accroche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34440"/>
            <a:ext cx="1033272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004A7C"/>
                </a:solidFill>
                <a:latin typeface="Open Sans"/>
              </a:rPr>
              <a:t>Combien de temps vous faut-il pour préparer une séance complète 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2011680"/>
            <a:ext cx="338328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2212848"/>
            <a:ext cx="33832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0">
                <a:solidFill>
                  <a:srgbClr val="F36C21"/>
                </a:solidFill>
                <a:latin typeface="Open Sans"/>
              </a:rPr>
              <a:t>⏱️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2624328"/>
            <a:ext cx="32461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>
                <a:solidFill>
                  <a:srgbClr val="F36C21"/>
                </a:solidFill>
                <a:latin typeface="Open Sans"/>
              </a:rPr>
              <a:t>1h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17720" y="2011680"/>
            <a:ext cx="338328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17720" y="2212848"/>
            <a:ext cx="33832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0">
                <a:solidFill>
                  <a:srgbClr val="004A7C"/>
                </a:solidFill>
                <a:latin typeface="Open Sans"/>
              </a:rPr>
              <a:t>⏱️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90872" y="2624328"/>
            <a:ext cx="32461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>
                <a:solidFill>
                  <a:srgbClr val="004A7C"/>
                </a:solidFill>
                <a:latin typeface="Open Sans"/>
              </a:rPr>
              <a:t>2h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66759" y="2011680"/>
            <a:ext cx="338328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66759" y="2212848"/>
            <a:ext cx="33832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0">
                <a:solidFill>
                  <a:srgbClr val="222222"/>
                </a:solidFill>
                <a:latin typeface="Open Sans"/>
              </a:rPr>
              <a:t>⏱️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39911" y="2624328"/>
            <a:ext cx="32461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>
                <a:solidFill>
                  <a:srgbClr val="222222"/>
                </a:solidFill>
                <a:latin typeface="Open Sans"/>
              </a:rPr>
              <a:t>Parfois davantage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" y="4160520"/>
            <a:ext cx="10012680" cy="713232"/>
          </a:xfrm>
          <a:prstGeom prst="roundRect">
            <a:avLst/>
          </a:prstGeom>
          <a:solidFill>
            <a:srgbClr val="ECECEC"/>
          </a:solidFill>
          <a:ln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325880" y="4379976"/>
            <a:ext cx="95554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0">
                <a:solidFill>
                  <a:srgbClr val="222222"/>
                </a:solidFill>
                <a:latin typeface="Open Sans"/>
              </a:rPr>
              <a:t>Et si nous pouvions réduire ce temps tout en améliorant la différenciation 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382512"/>
            <a:ext cx="11155680" cy="27432"/>
          </a:xfrm>
          <a:prstGeom prst="rect">
            <a:avLst/>
          </a:prstGeom>
          <a:solidFill>
            <a:srgbClr val="F36C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2743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004A7C"/>
                </a:solidFill>
                <a:latin typeface="Open Sans"/>
              </a:defRPr>
            </a:pPr>
            <a:r>
              <a:t>atelier IA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200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4A7C"/>
                </a:solidFill>
                <a:latin typeface="Montserrat"/>
              </a:rPr>
              <a:t>Objectif de l’atelier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143000"/>
            <a:ext cx="10424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04A7C"/>
                </a:solidFill>
                <a:latin typeface="Open Sans"/>
              </a:rPr>
              <a:t>Aujourd’hui vous allez 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65960"/>
            <a:ext cx="256032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463040" y="2057400"/>
            <a:ext cx="594360" cy="594360"/>
          </a:xfrm>
          <a:prstGeom prst="roundRect">
            <a:avLst/>
          </a:prstGeom>
          <a:solidFill>
            <a:srgbClr val="F36C21"/>
          </a:solidFill>
          <a:ln>
            <a:solidFill>
              <a:srgbClr val="F36C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463040" y="2176272"/>
            <a:ext cx="59436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743200"/>
            <a:ext cx="2331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Open Sans"/>
              </a:rPr>
              <a:t>Construire une activité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965960"/>
            <a:ext cx="256032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297680" y="2057400"/>
            <a:ext cx="594360" cy="594360"/>
          </a:xfrm>
          <a:prstGeom prst="roundRect">
            <a:avLst/>
          </a:prstGeom>
          <a:solidFill>
            <a:srgbClr val="004A7C"/>
          </a:solidFill>
          <a:ln>
            <a:solidFill>
              <a:srgbClr val="004A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97680" y="2176272"/>
            <a:ext cx="59436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2743200"/>
            <a:ext cx="2331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Open Sans"/>
              </a:rPr>
              <a:t>La différencier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965960"/>
            <a:ext cx="256032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132320" y="2057400"/>
            <a:ext cx="594360" cy="594360"/>
          </a:xfrm>
          <a:prstGeom prst="roundRect">
            <a:avLst/>
          </a:prstGeom>
          <a:solidFill>
            <a:srgbClr val="8F8F8F"/>
          </a:solidFill>
          <a:ln>
            <a:solidFill>
              <a:srgbClr val="8F8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2320" y="2176272"/>
            <a:ext cx="59436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2743200"/>
            <a:ext cx="2331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Open Sans"/>
              </a:rPr>
              <a:t>Créer une évaluation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1965960"/>
            <a:ext cx="256032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9966960" y="2057400"/>
            <a:ext cx="594360" cy="594360"/>
          </a:xfrm>
          <a:prstGeom prst="roundRect">
            <a:avLst/>
          </a:prstGeom>
          <a:solidFill>
            <a:srgbClr val="F36C21"/>
          </a:solidFill>
          <a:ln>
            <a:solidFill>
              <a:srgbClr val="F36C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966960" y="2176272"/>
            <a:ext cx="59436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Open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62288" y="2743200"/>
            <a:ext cx="2331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Open Sans"/>
              </a:rPr>
              <a:t>Repartir avec une ressource prête à utiliser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6382512"/>
            <a:ext cx="11155680" cy="27432"/>
          </a:xfrm>
          <a:prstGeom prst="rect">
            <a:avLst/>
          </a:prstGeom>
          <a:solidFill>
            <a:srgbClr val="F36C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6400800"/>
            <a:ext cx="2743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004A7C"/>
                </a:solidFill>
                <a:latin typeface="Open Sans"/>
              </a:defRPr>
            </a:pPr>
            <a:r>
              <a:t>atelier IA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200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4A7C"/>
                </a:solidFill>
                <a:latin typeface="Montserrat"/>
              </a:rPr>
              <a:t>Les 3 usages les plus rentables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" y="1828800"/>
            <a:ext cx="2880360" cy="2468880"/>
          </a:xfrm>
          <a:prstGeom prst="roundRect">
            <a:avLst/>
          </a:prstGeom>
          <a:solidFill>
            <a:srgbClr val="F36C21"/>
          </a:solidFill>
          <a:ln>
            <a:solidFill>
              <a:srgbClr val="F36C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2194560"/>
            <a:ext cx="28803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Open Sans"/>
              </a:rPr>
              <a:t>Préparer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39" y="2743200"/>
            <a:ext cx="26060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Open Sans"/>
              </a:rPr>
              <a:t>Séances, consignes, supports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69080" y="1828800"/>
            <a:ext cx="2880360" cy="2468880"/>
          </a:xfrm>
          <a:prstGeom prst="roundRect">
            <a:avLst/>
          </a:prstGeom>
          <a:solidFill>
            <a:srgbClr val="004A7C"/>
          </a:solidFill>
          <a:ln>
            <a:solidFill>
              <a:srgbClr val="004A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069080" y="2194560"/>
            <a:ext cx="28803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Open Sans"/>
              </a:rPr>
              <a:t>Différencier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2743200"/>
            <a:ext cx="26060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Open Sans"/>
              </a:rPr>
              <a:t>Aides, variantes, niveaux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69480" y="1828800"/>
            <a:ext cx="2880360" cy="2468880"/>
          </a:xfrm>
          <a:prstGeom prst="roundRect">
            <a:avLst/>
          </a:prstGeom>
          <a:solidFill>
            <a:srgbClr val="8F8F8F"/>
          </a:solidFill>
          <a:ln>
            <a:solidFill>
              <a:srgbClr val="8F8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269480" y="2194560"/>
            <a:ext cx="28803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Open Sans"/>
              </a:rPr>
              <a:t>Évaluer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743200"/>
            <a:ext cx="26060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Open Sans"/>
              </a:rPr>
              <a:t>Questions, corrigés, barèmes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382512"/>
            <a:ext cx="11155680" cy="27432"/>
          </a:xfrm>
          <a:prstGeom prst="rect">
            <a:avLst/>
          </a:prstGeom>
          <a:solidFill>
            <a:srgbClr val="F36C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2743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004A7C"/>
                </a:solidFill>
                <a:latin typeface="Open Sans"/>
              </a:defRPr>
            </a:pPr>
            <a:r>
              <a:t>atelier IA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A7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972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Open Sans"/>
              </a:rPr>
              <a:t>Démonstration WOW n°1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051560"/>
            <a:ext cx="10835640" cy="5074920"/>
          </a:xfrm>
          <a:prstGeom prst="roundRect">
            <a:avLst/>
          </a:prstGeom>
          <a:solidFill>
            <a:srgbClr val="083A61"/>
          </a:solidFill>
          <a:ln>
            <a:solidFill>
              <a:srgbClr val="083A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325880"/>
            <a:ext cx="102412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36C21"/>
                </a:solidFill>
                <a:latin typeface="Open Sans"/>
              </a:rPr>
              <a:t>Prompt à copier-coller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241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FFFFFF"/>
                </a:solidFill>
                <a:latin typeface="Open Sans"/>
              </a:rPr>
              <a:t>Tu es enseignant en lycée professionnel. Construis une</a:t>
            </a:r>
          </a:p>
          <a:p>
            <a:pPr algn="l"/>
            <a:r>
              <a:rPr sz="1800">
                <a:solidFill>
                  <a:srgbClr val="FFFFFF"/>
                </a:solidFill>
                <a:latin typeface="Open Sans"/>
              </a:rPr>
              <a:t>séance de 55 minutes selon les principes de l’enseignement</a:t>
            </a:r>
          </a:p>
          <a:p>
            <a:pPr algn="l"/>
            <a:r>
              <a:rPr sz="1800">
                <a:solidFill>
                  <a:srgbClr val="FFFFFF"/>
                </a:solidFill>
                <a:latin typeface="Open Sans"/>
              </a:rPr>
              <a:t>explicite. Niveau : [classe] Thème : [thème] Je veux :</a:t>
            </a:r>
          </a:p>
          <a:p>
            <a:pPr algn="l"/>
            <a:r>
              <a:rPr sz="1800">
                <a:solidFill>
                  <a:srgbClr val="FFFFFF"/>
                </a:solidFill>
                <a:latin typeface="Open Sans"/>
              </a:rPr>
              <a:t>objectif / modelage / pratique guidée / pratique autonome /</a:t>
            </a:r>
          </a:p>
          <a:p>
            <a:pPr algn="l"/>
            <a:r>
              <a:rPr sz="1800">
                <a:solidFill>
                  <a:srgbClr val="FFFFFF"/>
                </a:solidFill>
                <a:latin typeface="Open Sans"/>
              </a:rPr>
              <a:t>évaluation de sortie.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382512"/>
            <a:ext cx="11155680" cy="27432"/>
          </a:xfrm>
          <a:prstGeom prst="rect">
            <a:avLst/>
          </a:prstGeom>
          <a:solidFill>
            <a:srgbClr val="F36C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2743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004A7C"/>
                </a:solidFill>
                <a:latin typeface="Open Sans"/>
              </a:defRPr>
            </a:pPr>
            <a:r>
              <a:t>atelier IA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200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4A7C"/>
                </a:solidFill>
                <a:latin typeface="Montserrat"/>
              </a:rPr>
              <a:t>Démonstration WOW n°2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828800"/>
            <a:ext cx="361188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58368" y="1828800"/>
            <a:ext cx="3611880" cy="457200"/>
          </a:xfrm>
          <a:prstGeom prst="roundRect">
            <a:avLst/>
          </a:prstGeom>
          <a:solidFill>
            <a:srgbClr val="F36C21"/>
          </a:solidFill>
          <a:ln>
            <a:solidFill>
              <a:srgbClr val="F36C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8368" y="1901952"/>
            <a:ext cx="36118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Open Sans"/>
              </a:rPr>
              <a:t>Élève fragile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2606040"/>
            <a:ext cx="3383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222222"/>
                </a:solidFill>
                <a:latin typeface="Open Sans"/>
              </a:rPr>
              <a:t>Aide renforcée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3154680"/>
            <a:ext cx="3383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Open Sans"/>
              </a:rPr>
              <a:t>Adapter sans changer l’objectif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59" y="1828800"/>
            <a:ext cx="361188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480559" y="1828800"/>
            <a:ext cx="3611880" cy="457200"/>
          </a:xfrm>
          <a:prstGeom prst="roundRect">
            <a:avLst/>
          </a:prstGeom>
          <a:solidFill>
            <a:srgbClr val="004A7C"/>
          </a:solidFill>
          <a:ln>
            <a:solidFill>
              <a:srgbClr val="004A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80559" y="1901952"/>
            <a:ext cx="36118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Open Sans"/>
              </a:rPr>
              <a:t>Élève standard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2606040"/>
            <a:ext cx="3383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222222"/>
                </a:solidFill>
                <a:latin typeface="Open Sans"/>
              </a:rPr>
              <a:t>Chemin classique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3154680"/>
            <a:ext cx="3383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Open Sans"/>
              </a:rPr>
              <a:t>Adapter sans changer l’objectif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02752" y="1828800"/>
            <a:ext cx="361188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302752" y="1828800"/>
            <a:ext cx="3611880" cy="457200"/>
          </a:xfrm>
          <a:prstGeom prst="roundRect">
            <a:avLst/>
          </a:prstGeom>
          <a:solidFill>
            <a:srgbClr val="8F8F8F"/>
          </a:solidFill>
          <a:ln>
            <a:solidFill>
              <a:srgbClr val="8F8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02752" y="1901952"/>
            <a:ext cx="36118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Open Sans"/>
              </a:rPr>
              <a:t>Élève avancé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606040"/>
            <a:ext cx="3383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222222"/>
                </a:solidFill>
                <a:latin typeface="Open Sans"/>
              </a:rPr>
              <a:t>Défi supplémentaire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154680"/>
            <a:ext cx="3383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Open Sans"/>
              </a:rPr>
              <a:t>Adapter sans changer l’objectif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663440"/>
            <a:ext cx="104241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0">
                <a:solidFill>
                  <a:srgbClr val="222222"/>
                </a:solidFill>
                <a:latin typeface="Open Sans"/>
              </a:rPr>
              <a:t>Reprends cette séance et adapte-la aux trois niveaux. Conserve le même objectif.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6382512"/>
            <a:ext cx="11155680" cy="27432"/>
          </a:xfrm>
          <a:prstGeom prst="rect">
            <a:avLst/>
          </a:prstGeom>
          <a:solidFill>
            <a:srgbClr val="F36C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8640" y="6400800"/>
            <a:ext cx="2743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004A7C"/>
                </a:solidFill>
                <a:latin typeface="Open Sans"/>
              </a:defRPr>
            </a:pPr>
            <a:r>
              <a:t>atelier IA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200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4A7C"/>
                </a:solidFill>
                <a:latin typeface="Montserrat"/>
              </a:rPr>
              <a:t>Démonstration WOW n°3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" y="1783080"/>
            <a:ext cx="3840480" cy="2697480"/>
          </a:xfrm>
          <a:prstGeom prst="round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2148840"/>
            <a:ext cx="3840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0">
                <a:solidFill>
                  <a:srgbClr val="F36C21"/>
                </a:solidFill>
                <a:latin typeface="Open Sans"/>
              </a:rPr>
              <a:t>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97480"/>
            <a:ext cx="374903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222222"/>
                </a:solidFill>
                <a:latin typeface="Open Sans"/>
              </a:rPr>
              <a:t>Créer une évaluation de 15 minutes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92040" y="1783080"/>
            <a:ext cx="6355080" cy="2697480"/>
          </a:xfrm>
          <a:prstGeom prst="roundRect">
            <a:avLst/>
          </a:prstGeom>
          <a:solidFill>
            <a:srgbClr val="ECECEC"/>
          </a:solidFill>
          <a:ln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212080" y="2286000"/>
            <a:ext cx="57607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004A7C"/>
                </a:solidFill>
                <a:latin typeface="Open Sans"/>
              </a:rPr>
              <a:t>Sujet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2788920"/>
            <a:ext cx="57607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004A7C"/>
                </a:solidFill>
                <a:latin typeface="Open Sans"/>
              </a:rPr>
              <a:t>Corrigé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3291840"/>
            <a:ext cx="57607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004A7C"/>
                </a:solidFill>
                <a:latin typeface="Open Sans"/>
              </a:rPr>
              <a:t>Barème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382512"/>
            <a:ext cx="11155680" cy="27432"/>
          </a:xfrm>
          <a:prstGeom prst="rect">
            <a:avLst/>
          </a:prstGeom>
          <a:solidFill>
            <a:srgbClr val="F36C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2743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004A7C"/>
                </a:solidFill>
                <a:latin typeface="Open Sans"/>
              </a:defRPr>
            </a:pPr>
            <a:r>
              <a:t>atelier IA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975090" y="320040"/>
            <a:ext cx="430278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dirty="0" err="1">
                <a:solidFill>
                  <a:srgbClr val="004A7C"/>
                </a:solidFill>
                <a:latin typeface="Montserrat"/>
              </a:rPr>
              <a:t>Activité</a:t>
            </a:r>
            <a:r>
              <a:rPr sz="2800" b="1" dirty="0">
                <a:solidFill>
                  <a:srgbClr val="004A7C"/>
                </a:solidFill>
                <a:latin typeface="Montserrat"/>
              </a:rPr>
              <a:t> des </a:t>
            </a:r>
            <a:r>
              <a:rPr sz="2800" b="1" dirty="0" err="1">
                <a:solidFill>
                  <a:srgbClr val="004A7C"/>
                </a:solidFill>
                <a:latin typeface="Montserrat"/>
              </a:rPr>
              <a:t>collègues</a:t>
            </a:r>
            <a:endParaRPr sz="2800" b="1" dirty="0">
              <a:solidFill>
                <a:srgbClr val="004A7C"/>
              </a:solidFill>
              <a:latin typeface="Montserrat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868680" y="1554480"/>
            <a:ext cx="10378440" cy="3703320"/>
          </a:xfrm>
          <a:prstGeom prst="round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43000" y="201168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004A7C"/>
                </a:solidFill>
                <a:latin typeface="Open Sans"/>
              </a:rPr>
              <a:t>Prenez un cours que vous devez faire dans les 15 prochains jours.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670048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0">
                <a:solidFill>
                  <a:srgbClr val="222222"/>
                </a:solidFill>
                <a:latin typeface="Open Sans"/>
              </a:rPr>
              <a:t>Objectif : créer une activité, une différenciation, une évaluation.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43000" y="3401568"/>
            <a:ext cx="9875520" cy="1097280"/>
          </a:xfrm>
          <a:prstGeom prst="roundRect">
            <a:avLst/>
          </a:prstGeom>
          <a:solidFill>
            <a:srgbClr val="ECECEC"/>
          </a:solidFill>
          <a:ln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71600" y="3703320"/>
            <a:ext cx="94183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>
                <a:solidFill>
                  <a:srgbClr val="222222"/>
                </a:solidFill>
                <a:latin typeface="Open Sans"/>
              </a:rPr>
              <a:t>Zone de travail libre / brouillon / prise de notes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382512"/>
            <a:ext cx="11155680" cy="27432"/>
          </a:xfrm>
          <a:prstGeom prst="rect">
            <a:avLst/>
          </a:prstGeom>
          <a:solidFill>
            <a:srgbClr val="F36C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2743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004A7C"/>
                </a:solidFill>
                <a:latin typeface="Open Sans"/>
              </a:defRPr>
            </a:pPr>
            <a:r>
              <a:t>atelier IA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740523" y="320040"/>
            <a:ext cx="277191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 dirty="0" err="1">
                <a:solidFill>
                  <a:srgbClr val="004A7C"/>
                </a:solidFill>
                <a:latin typeface="Montserrat"/>
              </a:rPr>
              <a:t>Mutualisation</a:t>
            </a:r>
            <a:endParaRPr sz="2800" b="1" dirty="0">
              <a:solidFill>
                <a:srgbClr val="004A7C"/>
              </a:solidFill>
              <a:latin typeface="Montserrat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914400" y="1828800"/>
            <a:ext cx="10332720" cy="3200400"/>
          </a:xfrm>
          <a:prstGeom prst="round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234440" y="2286000"/>
            <a:ext cx="9692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04A7C"/>
                </a:solidFill>
                <a:latin typeface="Open Sans"/>
              </a:rPr>
              <a:t>Partageons vos productions 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880360"/>
            <a:ext cx="96926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>
                <a:solidFill>
                  <a:srgbClr val="222222"/>
                </a:solidFill>
                <a:latin typeface="Open Sans"/>
              </a:rPr>
              <a:t>ce qui vous a surpris, ce que vous allez réutiliser.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34440" y="3657600"/>
            <a:ext cx="9692640" cy="777240"/>
          </a:xfrm>
          <a:prstGeom prst="roundRect">
            <a:avLst/>
          </a:prstGeom>
          <a:solidFill>
            <a:srgbClr val="E8F1F8"/>
          </a:solidFill>
          <a:ln>
            <a:solidFill>
              <a:srgbClr val="E8F1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417320" y="3913632"/>
            <a:ext cx="93268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004A7C"/>
                </a:solidFill>
                <a:latin typeface="Open Sans"/>
              </a:rPr>
              <a:t>Espace pour captures ou retours oraux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382512"/>
            <a:ext cx="11155680" cy="27432"/>
          </a:xfrm>
          <a:prstGeom prst="rect">
            <a:avLst/>
          </a:prstGeom>
          <a:solidFill>
            <a:srgbClr val="F36C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2743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004A7C"/>
                </a:solidFill>
                <a:latin typeface="Open Sans"/>
              </a:defRPr>
            </a:pPr>
            <a:r>
              <a:t>atelier IA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200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4A7C"/>
                </a:solidFill>
                <a:latin typeface="Montserrat"/>
              </a:rPr>
              <a:t>Bonus final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" y="1828800"/>
            <a:ext cx="411480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2359152"/>
            <a:ext cx="41148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004A7C"/>
                </a:solidFill>
                <a:latin typeface="Open Sans"/>
              </a:rPr>
              <a:t>📄 Document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80" y="2697480"/>
            <a:ext cx="9144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F36C21"/>
                </a:solidFill>
                <a:latin typeface="Open Sans"/>
              </a:rPr>
              <a:t>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828800"/>
            <a:ext cx="480060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126480" y="2359152"/>
            <a:ext cx="4800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36C21"/>
                </a:solidFill>
                <a:latin typeface="Open Sans"/>
              </a:rPr>
              <a:t>✨ Activité pédagogique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663440"/>
            <a:ext cx="100584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0" dirty="0" err="1">
                <a:solidFill>
                  <a:srgbClr val="222222"/>
                </a:solidFill>
                <a:latin typeface="Open Sans"/>
              </a:rPr>
              <a:t>Transforme</a:t>
            </a:r>
            <a:r>
              <a:rPr sz="2200" b="0" dirty="0">
                <a:solidFill>
                  <a:srgbClr val="222222"/>
                </a:solidFill>
                <a:latin typeface="Open Sans"/>
              </a:rPr>
              <a:t> </a:t>
            </a:r>
            <a:r>
              <a:rPr sz="2200" b="0" dirty="0" err="1">
                <a:solidFill>
                  <a:srgbClr val="222222"/>
                </a:solidFill>
                <a:latin typeface="Open Sans"/>
              </a:rPr>
              <a:t>ce</a:t>
            </a:r>
            <a:r>
              <a:rPr sz="2200" b="0" dirty="0">
                <a:solidFill>
                  <a:srgbClr val="222222"/>
                </a:solidFill>
                <a:latin typeface="Open Sans"/>
              </a:rPr>
              <a:t> document </a:t>
            </a:r>
            <a:r>
              <a:rPr sz="2200" b="0" dirty="0" err="1">
                <a:solidFill>
                  <a:srgbClr val="222222"/>
                </a:solidFill>
                <a:latin typeface="Open Sans"/>
              </a:rPr>
              <a:t>en</a:t>
            </a:r>
            <a:r>
              <a:rPr sz="2200" b="0" dirty="0">
                <a:solidFill>
                  <a:srgbClr val="222222"/>
                </a:solidFill>
                <a:latin typeface="Open Sans"/>
              </a:rPr>
              <a:t> </a:t>
            </a:r>
            <a:r>
              <a:rPr sz="2200" b="0" dirty="0" err="1">
                <a:solidFill>
                  <a:srgbClr val="222222"/>
                </a:solidFill>
                <a:latin typeface="Open Sans"/>
              </a:rPr>
              <a:t>activité</a:t>
            </a:r>
            <a:r>
              <a:rPr sz="2200" b="0" dirty="0">
                <a:solidFill>
                  <a:srgbClr val="222222"/>
                </a:solidFill>
                <a:latin typeface="Open Sans"/>
              </a:rPr>
              <a:t> </a:t>
            </a:r>
            <a:r>
              <a:rPr sz="2200" b="0" dirty="0" err="1">
                <a:solidFill>
                  <a:srgbClr val="222222"/>
                </a:solidFill>
                <a:latin typeface="Open Sans"/>
              </a:rPr>
              <a:t>pédagogique</a:t>
            </a:r>
            <a:r>
              <a:rPr sz="2200" b="0" dirty="0">
                <a:solidFill>
                  <a:srgbClr val="222222"/>
                </a:solidFill>
                <a:latin typeface="Open Sans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382512"/>
            <a:ext cx="11155680" cy="27432"/>
          </a:xfrm>
          <a:prstGeom prst="rect">
            <a:avLst/>
          </a:prstGeom>
          <a:solidFill>
            <a:srgbClr val="F36C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2743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004A7C"/>
                </a:solidFill>
                <a:latin typeface="Open Sans"/>
              </a:defRPr>
            </a:pPr>
            <a:r>
              <a:t>atelier IA 2026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ADC57FE4-4D00-DABD-5CFE-0D7A7D073E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426464"/>
            <a:ext cx="4114800" cy="304495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A7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1783080"/>
            <a:ext cx="10607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Open Sans"/>
              </a:rPr>
              <a:t>L’IA ne remplace pas l’enseignant.
Elle lui rend du temps.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0" y="4206240"/>
            <a:ext cx="6675120" cy="502920"/>
          </a:xfrm>
          <a:prstGeom prst="roundRect">
            <a:avLst/>
          </a:prstGeom>
          <a:solidFill>
            <a:srgbClr val="F36C21"/>
          </a:solidFill>
          <a:ln>
            <a:solidFill>
              <a:srgbClr val="F36C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880360" y="4352544"/>
            <a:ext cx="640080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Open Sans"/>
              </a:rPr>
              <a:t>Le temps gagné devient du temps pédagogique.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382512"/>
            <a:ext cx="11155680" cy="27432"/>
          </a:xfrm>
          <a:prstGeom prst="rect">
            <a:avLst/>
          </a:prstGeom>
          <a:solidFill>
            <a:srgbClr val="F36C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2743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004A7C"/>
                </a:solidFill>
                <a:latin typeface="Open Sans"/>
              </a:defRPr>
            </a:pPr>
            <a:r>
              <a:t>atelier IA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2004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4A7C"/>
                </a:solidFill>
                <a:latin typeface="Montserrat"/>
              </a:rPr>
              <a:t>Ressources &amp; QR codes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17320"/>
            <a:ext cx="103327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0">
                <a:solidFill>
                  <a:srgbClr val="222222"/>
                </a:solidFill>
                <a:latin typeface="Open Sans"/>
              </a:rPr>
              <a:t>QR vers fiche participant + QR vers ressources IA éducatives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148840" y="2103120"/>
            <a:ext cx="2651760" cy="2651760"/>
          </a:xfrm>
          <a:prstGeom prst="round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2514600" y="2423160"/>
            <a:ext cx="1920240" cy="1920240"/>
          </a:xfrm>
          <a:prstGeom prst="roundRect">
            <a:avLst/>
          </a:prstGeom>
          <a:solidFill>
            <a:srgbClr val="ECECEC"/>
          </a:solidFill>
          <a:ln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514600" y="2880360"/>
            <a:ext cx="1920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dirty="0">
                <a:solidFill>
                  <a:srgbClr val="004A7C"/>
                </a:solidFill>
                <a:latin typeface="Open Sans"/>
              </a:rPr>
              <a:t>QR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48840" y="4892040"/>
            <a:ext cx="26517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222222"/>
                </a:solidFill>
                <a:latin typeface="Open Sans"/>
              </a:rPr>
              <a:t>Fiche participant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95160" y="2103120"/>
            <a:ext cx="2651760" cy="2651760"/>
          </a:xfrm>
          <a:prstGeom prst="round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360920" y="2423160"/>
            <a:ext cx="1920240" cy="1920240"/>
          </a:xfrm>
          <a:prstGeom prst="roundRect">
            <a:avLst/>
          </a:prstGeom>
          <a:solidFill>
            <a:srgbClr val="ECECEC"/>
          </a:solidFill>
          <a:ln>
            <a:solidFill>
              <a:srgbClr val="ECEC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60920" y="2880360"/>
            <a:ext cx="1920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004A7C"/>
                </a:solidFill>
                <a:latin typeface="Open Sans"/>
              </a:rPr>
              <a:t>QR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5160" y="4892040"/>
            <a:ext cx="26517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222222"/>
                </a:solidFill>
                <a:latin typeface="Open Sans"/>
              </a:rPr>
              <a:t>Ressources 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382512"/>
            <a:ext cx="11155680" cy="27432"/>
          </a:xfrm>
          <a:prstGeom prst="rect">
            <a:avLst/>
          </a:prstGeom>
          <a:solidFill>
            <a:srgbClr val="F36C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2743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004A7C"/>
                </a:solidFill>
                <a:latin typeface="Open Sans"/>
              </a:defRPr>
            </a:pPr>
            <a:r>
              <a:t>atelier IA 2026</a:t>
            </a: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017857CD-0FFC-D9C5-5A40-2E5CCB5D67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0415" y="2225421"/>
            <a:ext cx="2381250" cy="2381250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47859227-2399-AC99-03B1-8D1F5EC7EF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4095" y="2238375"/>
            <a:ext cx="2381250" cy="23812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373</Words>
  <Application>Microsoft Office PowerPoint</Application>
  <PresentationFormat>Grand écran</PresentationFormat>
  <Paragraphs>86</Paragraphs>
  <Slides>12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7" baseType="lpstr">
      <vt:lpstr>Arial</vt:lpstr>
      <vt:lpstr>Calibri</vt:lpstr>
      <vt:lpstr>Montserrat</vt:lpstr>
      <vt:lpstr>Open Sans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 guzzinati</cp:lastModifiedBy>
  <cp:revision>5</cp:revision>
  <dcterms:created xsi:type="dcterms:W3CDTF">2013-01-27T09:14:16Z</dcterms:created>
  <dcterms:modified xsi:type="dcterms:W3CDTF">2026-06-12T09:21:01Z</dcterms:modified>
  <cp:category/>
</cp:coreProperties>
</file>