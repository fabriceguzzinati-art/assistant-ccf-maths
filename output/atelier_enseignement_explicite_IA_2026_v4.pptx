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1556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10287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004A7C"/>
                </a:solidFill>
                <a:latin typeface="Open Sans"/>
              </a:rPr>
              <a:t>L’enseignement explicite augmenté par l’IA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36C21"/>
                </a:solidFill>
                <a:latin typeface="Open Sans"/>
              </a:rPr>
              <a:t>Comment gagner du temps tout en renforçant la différenciation pédagogique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54680"/>
            <a:ext cx="9966960" cy="685800"/>
          </a:xfrm>
          <a:prstGeom prst="roundRect">
            <a:avLst/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336499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4A7C"/>
                </a:solidFill>
                <a:latin typeface="Open Sans"/>
              </a:rPr>
              <a:t>Atelier pour enseignants de lycée professionnel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ED9603C-0EAB-61DE-B804-636F4B73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9CA26EA-9D67-6D7C-D287-E11FA9074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9000"/>
          </a:blip>
          <a:srcRect r="1311"/>
          <a:stretch>
            <a:fillRect/>
          </a:stretch>
        </p:blipFill>
        <p:spPr>
          <a:xfrm>
            <a:off x="20" y="-7624"/>
            <a:ext cx="12191981" cy="68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5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Question d’accroche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Combien de temps vous faut-il pour préparer une séance complète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116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62432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36C21"/>
                </a:solidFill>
                <a:latin typeface="Open Sans"/>
              </a:rPr>
              <a:t>1h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116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2128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4A7C"/>
                </a:solidFill>
                <a:latin typeface="Open Sans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62432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4A7C"/>
                </a:solidFill>
                <a:latin typeface="Open Sans"/>
              </a:rPr>
              <a:t>2h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59" y="201168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59" y="22128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22222"/>
                </a:solidFill>
                <a:latin typeface="Open Sans"/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1" y="262432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Open Sans"/>
              </a:rPr>
              <a:t>Parfois davantage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60520"/>
            <a:ext cx="10012680" cy="713232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555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Et si nous pouvions réduire ce temps tout en améliorant la différenciation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A3CFF0F-3BE0-E17A-6AE4-48524FFC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Objectif de l’atelier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Aujourd’hui vous allez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63040" y="2057400"/>
            <a:ext cx="594360" cy="59436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2176272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Construire une activité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6596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97680" y="2057400"/>
            <a:ext cx="594360" cy="594360"/>
          </a:xfrm>
          <a:prstGeom prst="roundRect">
            <a:avLst/>
          </a:prstGeom>
          <a:solidFill>
            <a:srgbClr val="004A7C"/>
          </a:solidFill>
          <a:ln>
            <a:solidFill>
              <a:srgbClr val="00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74320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La différencier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0" y="2057400"/>
            <a:ext cx="594360" cy="594360"/>
          </a:xfrm>
          <a:prstGeom prst="roundRect">
            <a:avLst/>
          </a:prstGeom>
          <a:solidFill>
            <a:srgbClr val="8F8F8F"/>
          </a:solidFill>
          <a:ln>
            <a:solidFill>
              <a:srgbClr val="8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176272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74320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Créer une évaluation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96596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66960" y="2057400"/>
            <a:ext cx="594360" cy="59436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2176272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74320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Repartir avec une ressource prête à utiliser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CF0CAD3-B55B-DAB3-46C5-506F4ED11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Les 3 usages les plus rentables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28800"/>
            <a:ext cx="2880360" cy="246888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Préparer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39" y="2743200"/>
            <a:ext cx="2606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Open Sans"/>
              </a:rPr>
              <a:t>Séances, consignes, supports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80360" cy="2468880"/>
          </a:xfrm>
          <a:prstGeom prst="roundRect">
            <a:avLst/>
          </a:prstGeom>
          <a:solidFill>
            <a:srgbClr val="004A7C"/>
          </a:solidFill>
          <a:ln>
            <a:solidFill>
              <a:srgbClr val="00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69080" y="21945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Différencier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43200"/>
            <a:ext cx="2606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Open Sans"/>
              </a:rPr>
              <a:t>Aides, variantes, niveaux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828800"/>
            <a:ext cx="2880360" cy="2468880"/>
          </a:xfrm>
          <a:prstGeom prst="roundRect">
            <a:avLst/>
          </a:prstGeom>
          <a:solidFill>
            <a:srgbClr val="8F8F8F"/>
          </a:solidFill>
          <a:ln>
            <a:solidFill>
              <a:srgbClr val="8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21945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Évaluer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743200"/>
            <a:ext cx="2606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Open Sans"/>
              </a:rPr>
              <a:t>Questions, corrigés, barèmes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323813E-3867-E705-A9BB-2B716EE35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</a:rPr>
              <a:t>Démonstration WOW n°1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10835640" cy="5074920"/>
          </a:xfrm>
          <a:prstGeom prst="roundRect">
            <a:avLst/>
          </a:prstGeom>
          <a:solidFill>
            <a:srgbClr val="083A61"/>
          </a:solidFill>
          <a:ln>
            <a:solidFill>
              <a:srgbClr val="08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36C21"/>
                </a:solidFill>
                <a:latin typeface="Open Sans"/>
              </a:rPr>
              <a:t>Prompt à copier-coller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Open Sans"/>
              </a:rPr>
              <a:t>Tu es enseignant en lycée professionnel. Construis une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Open Sans"/>
              </a:rPr>
              <a:t>séance de 55 minutes selon les principes de l’enseignement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Open Sans"/>
              </a:rPr>
              <a:t>explicite. Niveau : [classe] Thème : [thème] Je veux 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Open Sans"/>
              </a:rPr>
              <a:t>objectif / modelage / pratique guidée / pratique autonome /</a:t>
            </a:r>
          </a:p>
          <a:p>
            <a:pPr algn="l"/>
            <a:r>
              <a:rPr sz="1800">
                <a:solidFill>
                  <a:srgbClr val="FFFFFF"/>
                </a:solidFill>
                <a:latin typeface="Open Sans"/>
              </a:rPr>
              <a:t>évaluation de sortie.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828800"/>
            <a:ext cx="3611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611880" cy="45720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901952"/>
            <a:ext cx="3611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Élève fragile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060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Open Sans"/>
              </a:rPr>
              <a:t>Aide renforcée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5468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Open Sans"/>
              </a:rPr>
              <a:t>Adapter sans changer l’objectif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611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611880" cy="457200"/>
          </a:xfrm>
          <a:prstGeom prst="roundRect">
            <a:avLst/>
          </a:prstGeom>
          <a:solidFill>
            <a:srgbClr val="004A7C"/>
          </a:solidFill>
          <a:ln>
            <a:solidFill>
              <a:srgbClr val="00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1901952"/>
            <a:ext cx="3611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Élève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060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Open Sans"/>
              </a:rPr>
              <a:t>Chemin classique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15468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Open Sans"/>
              </a:rPr>
              <a:t>Adapter sans changer l’objectif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611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1828800"/>
            <a:ext cx="3611880" cy="457200"/>
          </a:xfrm>
          <a:prstGeom prst="roundRect">
            <a:avLst/>
          </a:prstGeom>
          <a:solidFill>
            <a:srgbClr val="8F8F8F"/>
          </a:solidFill>
          <a:ln>
            <a:solidFill>
              <a:srgbClr val="8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901952"/>
            <a:ext cx="3611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Élève avancé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Open Sans"/>
              </a:rPr>
              <a:t>Défi supplémentaire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Open Sans"/>
              </a:rPr>
              <a:t>Adapter sans changer l’objectif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Reprends cette séance et adapte-la aux trois niveaux. Conserve le même objectif.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F237FF4D-B8A0-2F5B-C97C-912F35132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783080"/>
            <a:ext cx="384048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F36C21"/>
                </a:solidFill>
                <a:latin typeface="Open Sans"/>
              </a:rP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Open Sans"/>
              </a:rPr>
              <a:t>Créer une évaluation de 15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783080"/>
            <a:ext cx="6355080" cy="269748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228600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Sujet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78892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29184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Barème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7239257-656D-AE11-6A97-9C096C4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5090" y="320040"/>
            <a:ext cx="43027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 err="1">
                <a:solidFill>
                  <a:srgbClr val="004A7C"/>
                </a:solidFill>
                <a:latin typeface="Montserrat"/>
              </a:rPr>
              <a:t>Activité</a:t>
            </a:r>
            <a:r>
              <a:rPr sz="2800" b="1" dirty="0">
                <a:solidFill>
                  <a:srgbClr val="004A7C"/>
                </a:solidFill>
                <a:latin typeface="Montserrat"/>
              </a:rPr>
              <a:t> des </a:t>
            </a:r>
            <a:r>
              <a:rPr sz="2800" b="1" dirty="0" err="1">
                <a:solidFill>
                  <a:srgbClr val="004A7C"/>
                </a:solidFill>
                <a:latin typeface="Montserrat"/>
              </a:rPr>
              <a:t>collègues</a:t>
            </a:r>
            <a:endParaRPr sz="2800" b="1" dirty="0">
              <a:solidFill>
                <a:srgbClr val="004A7C"/>
              </a:solidFill>
              <a:latin typeface="Montserra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68680" y="1554480"/>
            <a:ext cx="10378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01168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Prenez un cours que vous devez faire dans les 15 prochains jours.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7004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222222"/>
                </a:solidFill>
                <a:latin typeface="Open Sans"/>
              </a:rPr>
              <a:t>Objectif : créer une activité, une différenciation, une évaluation.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401568"/>
            <a:ext cx="9875520" cy="109728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Zone de travail libre / brouillon / prise de 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6F2106C-98E9-13B8-4809-2F24097B9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40523" y="320040"/>
            <a:ext cx="27719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 err="1">
                <a:solidFill>
                  <a:srgbClr val="004A7C"/>
                </a:solidFill>
                <a:latin typeface="Montserrat"/>
              </a:rPr>
              <a:t>Mutualisation</a:t>
            </a:r>
            <a:endParaRPr sz="2800" b="1" dirty="0">
              <a:solidFill>
                <a:srgbClr val="004A7C"/>
              </a:solidFill>
              <a:latin typeface="Montserra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228600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Partageons vos productions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88036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ce qui vous a surpris, ce que vous allez réutiliser.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657600"/>
            <a:ext cx="9692640" cy="777240"/>
          </a:xfrm>
          <a:prstGeom prst="roundRect">
            <a:avLst/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3913632"/>
            <a:ext cx="9326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4A7C"/>
                </a:solidFill>
                <a:latin typeface="Open Sans"/>
              </a:rPr>
              <a:t>Espace pour captures ou retours oraux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519A47B-EA04-87EA-826E-E8FA2B4A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Bonus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28800"/>
            <a:ext cx="4114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359152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4A7C"/>
                </a:solidFill>
                <a:latin typeface="Open Sans"/>
              </a:rPr>
              <a:t>📄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269748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36C21"/>
                </a:solidFill>
                <a:latin typeface="Open Sans"/>
              </a:rPr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4800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2359152"/>
            <a:ext cx="4800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36C21"/>
                </a:solidFill>
                <a:latin typeface="Open Sans"/>
              </a:rPr>
              <a:t>✨ Activité pédagogique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dirty="0" err="1">
                <a:solidFill>
                  <a:srgbClr val="222222"/>
                </a:solidFill>
                <a:latin typeface="Open Sans"/>
              </a:rPr>
              <a:t>Transforme</a:t>
            </a:r>
            <a:r>
              <a:rPr sz="2200" b="0" dirty="0">
                <a:solidFill>
                  <a:srgbClr val="222222"/>
                </a:solidFill>
                <a:latin typeface="Open Sans"/>
              </a:rPr>
              <a:t> </a:t>
            </a:r>
            <a:r>
              <a:rPr sz="2200" b="0" dirty="0" err="1">
                <a:solidFill>
                  <a:srgbClr val="222222"/>
                </a:solidFill>
                <a:latin typeface="Open Sans"/>
              </a:rPr>
              <a:t>ce</a:t>
            </a:r>
            <a:r>
              <a:rPr sz="2200" b="0" dirty="0">
                <a:solidFill>
                  <a:srgbClr val="222222"/>
                </a:solidFill>
                <a:latin typeface="Open Sans"/>
              </a:rPr>
              <a:t> document </a:t>
            </a:r>
            <a:r>
              <a:rPr sz="2200" b="0" dirty="0" err="1">
                <a:solidFill>
                  <a:srgbClr val="222222"/>
                </a:solidFill>
                <a:latin typeface="Open Sans"/>
              </a:rPr>
              <a:t>en</a:t>
            </a:r>
            <a:r>
              <a:rPr sz="2200" b="0" dirty="0">
                <a:solidFill>
                  <a:srgbClr val="222222"/>
                </a:solidFill>
                <a:latin typeface="Open Sans"/>
              </a:rPr>
              <a:t> </a:t>
            </a:r>
            <a:r>
              <a:rPr sz="2200" b="0" dirty="0" err="1">
                <a:solidFill>
                  <a:srgbClr val="222222"/>
                </a:solidFill>
                <a:latin typeface="Open Sans"/>
              </a:rPr>
              <a:t>activité</a:t>
            </a:r>
            <a:r>
              <a:rPr sz="2200" b="0" dirty="0">
                <a:solidFill>
                  <a:srgbClr val="222222"/>
                </a:solidFill>
                <a:latin typeface="Open Sans"/>
              </a:rPr>
              <a:t> </a:t>
            </a:r>
            <a:r>
              <a:rPr sz="2200" b="0" dirty="0" err="1">
                <a:solidFill>
                  <a:srgbClr val="222222"/>
                </a:solidFill>
                <a:latin typeface="Open Sans"/>
              </a:rPr>
              <a:t>pédagogique</a:t>
            </a:r>
            <a:r>
              <a:rPr sz="2200" b="0" dirty="0">
                <a:solidFill>
                  <a:srgbClr val="222222"/>
                </a:solidFill>
                <a:latin typeface="Open Sa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DC57FE4-4D00-DABD-5CFE-0D7A7D073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26464"/>
            <a:ext cx="4114800" cy="304495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B3FFB22-570D-AE3C-5600-8FD0F3D71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783080"/>
            <a:ext cx="10607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Open Sans"/>
              </a:rPr>
              <a:t>L’IA ne remplace pas l’enseignant.
Elle lui rend du temps.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4206240"/>
            <a:ext cx="6675120" cy="50292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360" y="4352544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Le temps gagné devient du temps pédagogique.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Ressources &amp; QR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QR vers fiche participant + QR vers ressources IA éducatives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2103120"/>
            <a:ext cx="26517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14600" y="2423160"/>
            <a:ext cx="1920240" cy="192024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288036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48920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Open Sans"/>
              </a:rPr>
              <a:t>Fiche participant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2103120"/>
            <a:ext cx="26517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0920" y="2423160"/>
            <a:ext cx="1920240" cy="192024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288036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8920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Open Sans"/>
              </a:rPr>
              <a:t>Ressources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17857CD-0FFC-D9C5-5A40-2E5CCB5D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415" y="2225421"/>
            <a:ext cx="2381250" cy="23812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7859227-2399-AC99-03B1-8D1F5EC7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095" y="2238375"/>
            <a:ext cx="2381250" cy="23812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646BB12-7A30-A050-6464-AB18E519C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914" y="5976856"/>
            <a:ext cx="1036891" cy="84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373</Words>
  <Application>Microsoft Office PowerPoint</Application>
  <PresentationFormat>Grand écran</PresentationFormat>
  <Paragraphs>86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Montserrat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 guzzinati</cp:lastModifiedBy>
  <cp:revision>7</cp:revision>
  <dcterms:created xsi:type="dcterms:W3CDTF">2013-01-27T09:14:16Z</dcterms:created>
  <dcterms:modified xsi:type="dcterms:W3CDTF">2026-06-15T20:41:47Z</dcterms:modified>
  <cp:category/>
</cp:coreProperties>
</file>