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48640"/>
            <a:ext cx="111556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004A7C"/>
                </a:solidFill>
                <a:latin typeface="Open Sans"/>
              </a:rPr>
              <a:t>L’enseignement explicite augmenté par l’IA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24028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36C21"/>
                </a:solidFill>
                <a:latin typeface="Open Sans"/>
              </a:rPr>
              <a:t>Comment gagner du temps tout en renforçant la différenciation pédagogique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337560"/>
            <a:ext cx="320040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356616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4A7C"/>
                </a:solidFill>
                <a:latin typeface="Open Sans"/>
              </a:rPr>
              <a:t>Atelier pour enseignants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Question d’accroche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0149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Combien de temps vous faut-il pour préparer une séance complète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36C21"/>
                </a:solidFill>
                <a:latin typeface="Open Sans"/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33472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36C21"/>
                </a:solidFill>
                <a:latin typeface="Open Sans"/>
              </a:rPr>
              <a:t>1h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0116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24028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004A7C"/>
                </a:solidFill>
                <a:latin typeface="Open Sans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33472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4A7C"/>
                </a:solidFill>
                <a:latin typeface="Open Sans"/>
              </a:rPr>
              <a:t>2h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0116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2240280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22222"/>
                </a:solidFill>
                <a:latin typeface="Open Sans"/>
              </a:rPr>
              <a:t>⏱️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33472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22222"/>
                </a:solidFill>
                <a:latin typeface="Open Sans"/>
              </a:rPr>
              <a:t>Parfois davantage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977639"/>
            <a:ext cx="9966960" cy="82296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4224528"/>
            <a:ext cx="9509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Et si nous pouvions réduire ce temps tout en améliorant la différenciation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Objectif de l’atelier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Aujourd’hui vous allez 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651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F36C21"/>
                </a:solidFill>
                <a:latin typeface="Open Sans"/>
              </a:rPr>
              <a:t>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construire une 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651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23317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F36C21"/>
                </a:solidFill>
                <a:latin typeface="Open Sans"/>
              </a:rP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la différencier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011680"/>
            <a:ext cx="2651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3317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F36C21"/>
                </a:solidFill>
                <a:latin typeface="Open Sans"/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créer une évaluation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2011680"/>
            <a:ext cx="2651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19" y="23317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F36C21"/>
                </a:solidFill>
                <a:latin typeface="Open Sans"/>
              </a:rPr>
              <a:t>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447" y="2834640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repartir avec une ressource prête à utiliser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Les 3 usages les plus rentables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74519"/>
            <a:ext cx="2880360" cy="2194560"/>
          </a:xfrm>
          <a:prstGeom prst="roundRect">
            <a:avLst/>
          </a:prstGeom>
          <a:solidFill>
            <a:srgbClr val="F36C21"/>
          </a:solidFill>
          <a:ln>
            <a:solidFill>
              <a:srgbClr val="F36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</a:rPr>
              <a:t>Préparer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78" y="3040379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6300" y="1865377"/>
            <a:ext cx="2880360" cy="2194560"/>
          </a:xfrm>
          <a:prstGeom prst="roundRect">
            <a:avLst/>
          </a:prstGeom>
          <a:solidFill>
            <a:srgbClr val="004A7C"/>
          </a:solidFill>
          <a:ln>
            <a:solidFill>
              <a:srgbClr val="00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25342" y="2331720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 err="1">
                <a:solidFill>
                  <a:srgbClr val="FFFFFF"/>
                </a:solidFill>
                <a:latin typeface="Open Sans"/>
              </a:rPr>
              <a:t>Différencier</a:t>
            </a:r>
            <a:endParaRPr sz="2200" b="1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86300" y="3095243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42962" y="1929385"/>
            <a:ext cx="2880360" cy="2194560"/>
          </a:xfrm>
          <a:prstGeom prst="roundRect">
            <a:avLst/>
          </a:prstGeom>
          <a:solidFill>
            <a:srgbClr val="8F8F8F"/>
          </a:solidFill>
          <a:ln>
            <a:solidFill>
              <a:srgbClr val="8F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42960" y="2331720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 err="1">
                <a:solidFill>
                  <a:srgbClr val="FFFFFF"/>
                </a:solidFill>
                <a:latin typeface="Open Sans"/>
              </a:rPr>
              <a:t>Évaluer</a:t>
            </a:r>
            <a:endParaRPr sz="2200" b="1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42960" y="3131819"/>
            <a:ext cx="2880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FFFFF"/>
                </a:solidFill>
                <a:latin typeface="Open Sans"/>
              </a:rPr>
              <a:t>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</a:rPr>
              <a:t>Démonstration WOW n°1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10835640" cy="5074920"/>
          </a:xfrm>
          <a:prstGeom prst="roundRect">
            <a:avLst/>
          </a:prstGeom>
          <a:solidFill>
            <a:srgbClr val="083A61"/>
          </a:solidFill>
          <a:ln>
            <a:solidFill>
              <a:srgbClr val="08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Prompt :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“Tu es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enseignant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en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lycée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professionnel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.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Construis</a:t>
            </a:r>
            <a:r>
              <a:rPr lang="fr-FR" sz="1800" dirty="0">
                <a:solidFill>
                  <a:srgbClr val="FFFFFF"/>
                </a:solidFill>
                <a:latin typeface="Open Sans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une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séance de 55 minutes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selon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les principes de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l’enseignement</a:t>
            </a:r>
            <a:endParaRPr sz="1800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explicite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.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Niveau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[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classe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]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Thème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 [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thème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] </a:t>
            </a:r>
            <a:endParaRPr lang="fr-FR" sz="1800" dirty="0">
              <a:solidFill>
                <a:srgbClr val="FFFFFF"/>
              </a:solidFill>
              <a:latin typeface="Open Sans"/>
            </a:endParaRPr>
          </a:p>
          <a:p>
            <a:pPr algn="l"/>
            <a:endParaRPr lang="fr-FR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1800" dirty="0">
                <a:solidFill>
                  <a:srgbClr val="FFFFFF"/>
                </a:solidFill>
                <a:latin typeface="Open Sans"/>
              </a:rPr>
              <a:t>Je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veux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:</a:t>
            </a: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objectif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modelage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pratique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guidée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 pratique </a:t>
            </a:r>
            <a:r>
              <a:rPr sz="1800" dirty="0" err="1">
                <a:solidFill>
                  <a:srgbClr val="FFFFFF"/>
                </a:solidFill>
                <a:latin typeface="Open Sans"/>
              </a:rPr>
              <a:t>autonome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/</a:t>
            </a:r>
          </a:p>
          <a:p>
            <a:pPr algn="l"/>
            <a:r>
              <a:rPr sz="1800" dirty="0" err="1">
                <a:solidFill>
                  <a:srgbClr val="FFFFFF"/>
                </a:solidFill>
                <a:latin typeface="Open Sans"/>
              </a:rPr>
              <a:t>évaluation</a:t>
            </a:r>
            <a:r>
              <a:rPr sz="1800" dirty="0">
                <a:solidFill>
                  <a:srgbClr val="FFFFFF"/>
                </a:solidFill>
                <a:latin typeface="Open Sans"/>
              </a:rPr>
              <a:t> de sortie.”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84831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36C21"/>
                </a:solidFill>
                <a:latin typeface="Open Sans"/>
              </a:rPr>
              <a:t>Élève fragile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Aide renforcée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2084831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04A7C"/>
                </a:solidFill>
                <a:latin typeface="Open Sans"/>
              </a:rPr>
              <a:t>Élève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9748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Chemin classique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82880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084831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8F8F8F"/>
                </a:solidFill>
                <a:latin typeface="Open Sans"/>
              </a:rPr>
              <a:t>Élève avancé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697480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Défi supplémentaire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Reprends cette séance. Adapte-la pour les trois niveaux. Conserve le même objectif.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Démonstration WOW n°3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91640"/>
            <a:ext cx="38404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F36C21"/>
                </a:solidFill>
                <a:latin typeface="Open Sans"/>
              </a:rP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Open Sans"/>
              </a:rPr>
              <a:t>Créer une évaluation de 15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691640"/>
            <a:ext cx="6172200" cy="292608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0" y="2148840"/>
            <a:ext cx="5715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Sujet / corrigé / barème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3154680"/>
            <a:ext cx="5715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Open Sans"/>
              </a:rPr>
              <a:t>Un format simple, exploitable tout de suite.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Activité des collègues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10515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4A7C"/>
                </a:solidFill>
                <a:latin typeface="Open Sans"/>
              </a:rPr>
              <a:t>Prenez un cours que vous devez faire dans les 15 prochains jours.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Objectif : créer une activité, une différenciation, une évaluation.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9966960" cy="1280160"/>
          </a:xfrm>
          <a:prstGeom prst="roundRect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Open Sans"/>
              </a:rPr>
              <a:t>Zone de travail libre / notes / brouillon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Mutualisation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4A7C"/>
                </a:solidFill>
                <a:latin typeface="Open Sans"/>
              </a:rPr>
              <a:t>Partageons vos productions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Open Sans"/>
              </a:rPr>
              <a:t>ce qui vous a surpris, ce que vous allez réutiliser.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5760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36C21"/>
                </a:solidFill>
                <a:latin typeface="Open Sans"/>
              </a:rPr>
              <a:t>Espace pour captures ou retours oraux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Bonus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828800"/>
            <a:ext cx="40233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4A7C"/>
                </a:solidFill>
                <a:latin typeface="Open Sans"/>
              </a:rPr>
              <a:t>📄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274320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36C21"/>
                </a:solidFill>
                <a:latin typeface="Open Sans"/>
              </a:rPr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7548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233172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36C21"/>
                </a:solidFill>
                <a:latin typeface="Open Sans"/>
              </a:rPr>
              <a:t>✨ Activité pédagogique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222222"/>
                </a:solidFill>
                <a:latin typeface="Open Sans"/>
              </a:rPr>
              <a:t>Transforme ce document en activité pédagogique.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612648" y="2407878"/>
            <a:ext cx="10826496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Open Sans"/>
              </a:rPr>
              <a:t>L’IA ne </a:t>
            </a:r>
            <a:r>
              <a:rPr sz="2800" b="1" dirty="0" err="1">
                <a:solidFill>
                  <a:srgbClr val="FFFFFF"/>
                </a:solidFill>
                <a:latin typeface="Open Sans"/>
              </a:rPr>
              <a:t>remplace</a:t>
            </a:r>
            <a:r>
              <a:rPr sz="2800" b="1" dirty="0">
                <a:solidFill>
                  <a:srgbClr val="FFFFFF"/>
                </a:solidFill>
                <a:latin typeface="Open Sans"/>
              </a:rPr>
              <a:t> pas </a:t>
            </a:r>
            <a:r>
              <a:rPr sz="2800" b="1" dirty="0" err="1">
                <a:solidFill>
                  <a:srgbClr val="FFFFFF"/>
                </a:solidFill>
                <a:latin typeface="Open Sans"/>
              </a:rPr>
              <a:t>l’enseignant</a:t>
            </a:r>
            <a:r>
              <a:rPr sz="2800" b="1" dirty="0">
                <a:solidFill>
                  <a:srgbClr val="FFFFFF"/>
                </a:solidFill>
                <a:latin typeface="Open Sans"/>
              </a:rPr>
              <a:t>.
Elle </a:t>
            </a:r>
            <a:r>
              <a:rPr sz="2800" b="1" dirty="0" err="1">
                <a:solidFill>
                  <a:srgbClr val="FFFFFF"/>
                </a:solidFill>
                <a:latin typeface="Open Sans"/>
              </a:rPr>
              <a:t>lui</a:t>
            </a:r>
            <a:r>
              <a:rPr sz="2800" b="1" dirty="0">
                <a:solidFill>
                  <a:srgbClr val="FFFFFF"/>
                </a:solidFill>
                <a:latin typeface="Open Sans"/>
              </a:rPr>
              <a:t> rend du temps.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4A7C"/>
                </a:solidFill>
                <a:latin typeface="Montserrat"/>
              </a:rPr>
              <a:t>Ressources &amp; QR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Open Sans"/>
              </a:rPr>
              <a:t>QR vers fiche participant + QR vers ressources IA éducatives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210312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26974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15468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Fiche participant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10312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26974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4A7C"/>
                </a:solidFill>
                <a:latin typeface="Open Sans"/>
              </a:rPr>
              <a:t>QR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15468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Open Sans"/>
              </a:rPr>
              <a:t>Ressources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82512"/>
            <a:ext cx="11155680" cy="27432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2743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4A7C"/>
                </a:solidFill>
                <a:latin typeface="Open Sans"/>
              </a:defRPr>
            </a:pPr>
            <a:r>
              <a:t>atelier IA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348</Words>
  <Application>Microsoft Office PowerPoint</Application>
  <PresentationFormat>Grand écran</PresentationFormat>
  <Paragraphs>87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 guzzinati</cp:lastModifiedBy>
  <cp:revision>2</cp:revision>
  <dcterms:created xsi:type="dcterms:W3CDTF">2013-01-27T09:14:16Z</dcterms:created>
  <dcterms:modified xsi:type="dcterms:W3CDTF">2026-06-12T08:52:37Z</dcterms:modified>
  <cp:category/>
</cp:coreProperties>
</file>